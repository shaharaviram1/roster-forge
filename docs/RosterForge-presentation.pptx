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" y="1554480"/>
            <a:ext cx="1188720" cy="50800"/>
          </a:xfrm>
          <a:prstGeom prst="rect">
            <a:avLst/>
          </a:prstGeom>
          <a:solidFill>
            <a:srgbClr val="A87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783080"/>
            <a:ext cx="104543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A87C3D"/>
                </a:solidFill>
                <a:latin typeface="Arial"/>
              </a:rPr>
              <a:t>RosterForge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86000"/>
            <a:ext cx="1045433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>
                <a:solidFill>
                  <a:srgbClr val="1C2E4A"/>
                </a:solidFill>
                <a:latin typeface="Arial"/>
              </a:rPr>
              <a:t>מערכת שיבוץ משמרות</a:t>
            </a:r>
          </a:p>
          <a:p>
            <a:pPr rtl="1" algn="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1800" b="0">
                <a:solidFill>
                  <a:srgbClr val="394352"/>
                </a:solidFill>
                <a:latin typeface="Arial"/>
              </a:rPr>
              <a:t>שיבוץ אוטומטי של סידור עבודה בארכיטקטורת שרת–לקוח עם יחידת אלגוריתמיקה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4343400"/>
            <a:ext cx="10454335" cy="12700"/>
          </a:xfrm>
          <a:prstGeom prst="rect">
            <a:avLst/>
          </a:prstGeom>
          <a:solidFill>
            <a:srgbClr val="CFD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526280"/>
            <a:ext cx="1045433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6A7280"/>
                </a:solidFill>
                <a:latin typeface="Arial"/>
              </a:rPr>
              <a:t>קורס:  </a:t>
            </a:r>
            <a:r>
              <a:rPr sz="1500" b="1">
                <a:solidFill>
                  <a:srgbClr val="1C2E4A"/>
                </a:solidFill>
                <a:latin typeface="Arial"/>
              </a:rPr>
              <a:t>פיתוח מתקדם ב-Java</a:t>
            </a:r>
            <a:r>
              <a:rPr sz="1500" b="0">
                <a:solidFill>
                  <a:srgbClr val="6A7280"/>
                </a:solidFill>
                <a:latin typeface="Arial"/>
              </a:rPr>
              <a:t>      מכון:  </a:t>
            </a:r>
            <a:r>
              <a:rPr sz="1500" b="1">
                <a:solidFill>
                  <a:srgbClr val="1C2E4A"/>
                </a:solidFill>
                <a:latin typeface="Arial"/>
              </a:rPr>
              <a:t>מכון טכנולוגי חולון — HIT</a:t>
            </a:r>
            <a:r>
              <a:rPr sz="1500" b="0">
                <a:solidFill>
                  <a:srgbClr val="6A7280"/>
                </a:solidFill>
                <a:latin typeface="Arial"/>
              </a:rPr>
              <a:t>      סמסטר:  </a:t>
            </a:r>
            <a:r>
              <a:rPr sz="1500" b="1">
                <a:solidFill>
                  <a:srgbClr val="1C2E4A"/>
                </a:solidFill>
                <a:latin typeface="Arial"/>
              </a:rPr>
              <a:t>ב׳ 2026</a:t>
            </a:r>
          </a:p>
          <a:p>
            <a:pPr rtl="1" algn="r">
              <a:lnSpc>
                <a:spcPct val="112000"/>
              </a:lnSpc>
              <a:spcBef>
                <a:spcPts val="400"/>
              </a:spcBef>
              <a:spcAft>
                <a:spcPts val="600"/>
              </a:spcAft>
            </a:pPr>
            <a:r>
              <a:rPr sz="1500" b="0">
                <a:solidFill>
                  <a:srgbClr val="6A7280"/>
                </a:solidFill>
                <a:latin typeface="Arial"/>
              </a:rPr>
              <a:t>מגיש/ה:  </a:t>
            </a:r>
            <a:r>
              <a:rPr sz="1500" b="1">
                <a:solidFill>
                  <a:srgbClr val="1C2E4A"/>
                </a:solidFill>
                <a:latin typeface="Arial"/>
              </a:rPr>
              <a:t>‹שם מלא›</a:t>
            </a:r>
            <a:r>
              <a:rPr sz="1500" b="0">
                <a:solidFill>
                  <a:srgbClr val="6A7280"/>
                </a:solidFill>
                <a:latin typeface="Arial"/>
              </a:rPr>
              <a:t>   ·   ת״ז </a:t>
            </a:r>
            <a:r>
              <a:rPr sz="1500" b="1">
                <a:solidFill>
                  <a:srgbClr val="1C2E4A"/>
                </a:solidFill>
                <a:latin typeface="Arial"/>
              </a:rPr>
              <a:t>‹000000000›</a:t>
            </a:r>
          </a:p>
          <a:p>
            <a:pPr rtl="1" algn="r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</a:pPr>
            <a:r>
              <a:rPr sz="1500" b="0">
                <a:solidFill>
                  <a:srgbClr val="6A7280"/>
                </a:solidFill>
                <a:latin typeface="Arial"/>
              </a:rPr>
              <a:t>מגיש/ה:  </a:t>
            </a:r>
            <a:r>
              <a:rPr sz="1500" b="1">
                <a:solidFill>
                  <a:srgbClr val="1C2E4A"/>
                </a:solidFill>
                <a:latin typeface="Arial"/>
              </a:rPr>
              <a:t>‹שם מלא›</a:t>
            </a:r>
            <a:r>
              <a:rPr sz="1500" b="0">
                <a:solidFill>
                  <a:srgbClr val="6A7280"/>
                </a:solidFill>
                <a:latin typeface="Arial"/>
              </a:rPr>
              <a:t>   ·   ת״ז </a:t>
            </a:r>
            <a:r>
              <a:rPr sz="1500" b="1">
                <a:solidFill>
                  <a:srgbClr val="1C2E4A"/>
                </a:solidFill>
                <a:latin typeface="Arial"/>
              </a:rPr>
              <a:t>‹000000000›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" y="658368"/>
            <a:ext cx="566928" cy="38100"/>
          </a:xfrm>
          <a:prstGeom prst="rect">
            <a:avLst/>
          </a:prstGeom>
          <a:solidFill>
            <a:srgbClr val="A87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786384"/>
            <a:ext cx="104543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A87C3D"/>
                </a:solidFill>
                <a:latin typeface="Arial"/>
              </a:rPr>
              <a:t>שקופית ראשונה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60704"/>
            <a:ext cx="104543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C2E4A"/>
                </a:solidFill>
                <a:latin typeface="Arial"/>
              </a:rPr>
              <a:t>תיאור פונקציונלי של המערכת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883664"/>
            <a:ext cx="10454335" cy="12700"/>
          </a:xfrm>
          <a:prstGeom prst="rect">
            <a:avLst/>
          </a:prstGeom>
          <a:solidFill>
            <a:srgbClr val="CFD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84831"/>
            <a:ext cx="104543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394352"/>
                </a:solidFill>
                <a:latin typeface="Arial"/>
              </a:rPr>
              <a:t>מערכת לניהול ושיבוץ אוטומטי של משמרות עבור מרכז אבטחה. מנהל המשמרות מנהל עובדים, משמרות והעדפות זמינות, והמערכת מפיקה סידור עבודה המכבד אילוצים קשיחים וממקסם את העדפות העובדים.</a:t>
            </a:r>
          </a:p>
        </p:txBody>
      </p:sp>
      <p:sp>
        <p:nvSpPr>
          <p:cNvPr id="7" name="Rectangle 6"/>
          <p:cNvSpPr/>
          <p:nvPr/>
        </p:nvSpPr>
        <p:spPr>
          <a:xfrm>
            <a:off x="11272215" y="2997200"/>
            <a:ext cx="50800" cy="165100"/>
          </a:xfrm>
          <a:prstGeom prst="rect">
            <a:avLst/>
          </a:prstGeom>
          <a:solidFill>
            <a:srgbClr val="A87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24447" y="2971800"/>
            <a:ext cx="4833975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C2E4A"/>
                </a:solidFill>
                <a:latin typeface="Arial"/>
              </a:rPr>
              <a:t>ניהול עובדים</a:t>
            </a:r>
          </a:p>
          <a:p>
            <a:pPr rtl="1" algn="r">
              <a:lnSpc>
                <a:spcPct val="118000"/>
              </a:lnSpc>
              <a:spcBef>
                <a:spcPts val="200"/>
              </a:spcBef>
              <a:spcAft>
                <a:spcPts val="0"/>
              </a:spcAft>
            </a:pPr>
            <a:r>
              <a:rPr sz="1200" b="0">
                <a:solidFill>
                  <a:srgbClr val="6A7280"/>
                </a:solidFill>
                <a:latin typeface="Arial"/>
              </a:rPr>
              <a:t>פעולות CRUD מלאות — הוספה, עדכון, מחיקה ושליפה — לפי תפקיד.</a:t>
            </a:r>
          </a:p>
        </p:txBody>
      </p:sp>
      <p:sp>
        <p:nvSpPr>
          <p:cNvPr id="9" name="Rectangle 8"/>
          <p:cNvSpPr/>
          <p:nvPr/>
        </p:nvSpPr>
        <p:spPr>
          <a:xfrm>
            <a:off x="5816447" y="2997200"/>
            <a:ext cx="50800" cy="165100"/>
          </a:xfrm>
          <a:prstGeom prst="rect">
            <a:avLst/>
          </a:prstGeom>
          <a:solidFill>
            <a:srgbClr val="A87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971800"/>
            <a:ext cx="4833975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C2E4A"/>
                </a:solidFill>
                <a:latin typeface="Arial"/>
              </a:rPr>
              <a:t>ניהול משמרות</a:t>
            </a:r>
          </a:p>
          <a:p>
            <a:pPr rtl="1" algn="r">
              <a:lnSpc>
                <a:spcPct val="118000"/>
              </a:lnSpc>
              <a:spcBef>
                <a:spcPts val="200"/>
              </a:spcBef>
              <a:spcAft>
                <a:spcPts val="0"/>
              </a:spcAft>
            </a:pPr>
            <a:r>
              <a:rPr sz="1200" b="0">
                <a:solidFill>
                  <a:srgbClr val="6A7280"/>
                </a:solidFill>
                <a:latin typeface="Arial"/>
              </a:rPr>
              <a:t>בוקר / ערב / לילה, עם דרישת מספר עובדים לכל תפקיד במשמרת.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272215" y="3783584"/>
            <a:ext cx="50800" cy="165100"/>
          </a:xfrm>
          <a:prstGeom prst="rect">
            <a:avLst/>
          </a:prstGeom>
          <a:solidFill>
            <a:srgbClr val="A87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4447" y="3758184"/>
            <a:ext cx="4833975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C2E4A"/>
                </a:solidFill>
                <a:latin typeface="Arial"/>
              </a:rPr>
              <a:t>העדפות זמינות</a:t>
            </a:r>
          </a:p>
          <a:p>
            <a:pPr rtl="1" algn="r">
              <a:lnSpc>
                <a:spcPct val="118000"/>
              </a:lnSpc>
              <a:spcBef>
                <a:spcPts val="200"/>
              </a:spcBef>
              <a:spcAft>
                <a:spcPts val="0"/>
              </a:spcAft>
            </a:pPr>
            <a:r>
              <a:rPr sz="1200" b="0">
                <a:solidFill>
                  <a:srgbClr val="6A7280"/>
                </a:solidFill>
                <a:latin typeface="Arial"/>
              </a:rPr>
              <a:t>כל עובד מסמן רמת זמינות לכל משמרת — מ״חסום״ ועד ״מעדיף מאוד״.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16447" y="3783584"/>
            <a:ext cx="50800" cy="165100"/>
          </a:xfrm>
          <a:prstGeom prst="rect">
            <a:avLst/>
          </a:prstGeom>
          <a:solidFill>
            <a:srgbClr val="A87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758184"/>
            <a:ext cx="4833975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C2E4A"/>
                </a:solidFill>
                <a:latin typeface="Arial"/>
              </a:rPr>
              <a:t>יצירת סידור עבודה</a:t>
            </a:r>
          </a:p>
          <a:p>
            <a:pPr rtl="1" algn="r">
              <a:lnSpc>
                <a:spcPct val="118000"/>
              </a:lnSpc>
              <a:spcBef>
                <a:spcPts val="200"/>
              </a:spcBef>
              <a:spcAft>
                <a:spcPts val="0"/>
              </a:spcAft>
            </a:pPr>
            <a:r>
              <a:rPr sz="1200" b="0">
                <a:solidFill>
                  <a:srgbClr val="6A7280"/>
                </a:solidFill>
                <a:latin typeface="Arial"/>
              </a:rPr>
              <a:t>הרצת אלגוריתם זרימה מקסימלית עם ניקוד העדפות להפקת סידור אופטימלי.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272215" y="4569968"/>
            <a:ext cx="50800" cy="165100"/>
          </a:xfrm>
          <a:prstGeom prst="rect">
            <a:avLst/>
          </a:prstGeom>
          <a:solidFill>
            <a:srgbClr val="A87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4447" y="4544568"/>
            <a:ext cx="4833975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C2E4A"/>
                </a:solidFill>
                <a:latin typeface="Arial"/>
              </a:rPr>
              <a:t>אכיפת אילוצים</a:t>
            </a:r>
          </a:p>
          <a:p>
            <a:pPr rtl="1" algn="r">
              <a:lnSpc>
                <a:spcPct val="118000"/>
              </a:lnSpc>
              <a:spcBef>
                <a:spcPts val="200"/>
              </a:spcBef>
              <a:spcAft>
                <a:spcPts val="0"/>
              </a:spcAft>
            </a:pPr>
            <a:r>
              <a:rPr sz="1200" b="0">
                <a:solidFill>
                  <a:srgbClr val="6A7280"/>
                </a:solidFill>
                <a:latin typeface="Arial"/>
              </a:rPr>
              <a:t>ולידציה של ארבעה אילוצים קשיחים לפני קיבוע הסידור הסופי.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16447" y="4569968"/>
            <a:ext cx="50800" cy="165100"/>
          </a:xfrm>
          <a:prstGeom prst="rect">
            <a:avLst/>
          </a:prstGeom>
          <a:solidFill>
            <a:srgbClr val="A87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544568"/>
            <a:ext cx="4833975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C2E4A"/>
                </a:solidFill>
                <a:latin typeface="Arial"/>
              </a:rPr>
              <a:t>ממשק גרפי</a:t>
            </a:r>
          </a:p>
          <a:p>
            <a:pPr rtl="1" algn="r">
              <a:lnSpc>
                <a:spcPct val="118000"/>
              </a:lnSpc>
              <a:spcBef>
                <a:spcPts val="200"/>
              </a:spcBef>
              <a:spcAft>
                <a:spcPts val="0"/>
              </a:spcAft>
            </a:pPr>
            <a:r>
              <a:rPr sz="1200" b="0">
                <a:solidFill>
                  <a:srgbClr val="6A7280"/>
                </a:solidFill>
                <a:latin typeface="Arial"/>
              </a:rPr>
              <a:t>לקוח JavaFX המתחבר לשרת ומריץ את כל הפעולות דרך Socket.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5532120"/>
            <a:ext cx="10454335" cy="12700"/>
          </a:xfrm>
          <a:prstGeom prst="rect">
            <a:avLst/>
          </a:prstGeom>
          <a:solidFill>
            <a:srgbClr val="CFD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650992"/>
            <a:ext cx="104543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6A7280"/>
                </a:solidFill>
                <a:latin typeface="Arial"/>
              </a:rPr>
              <a:t>רמות זמינות: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62895" y="563270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>
                <a:solidFill>
                  <a:srgbClr val="394352"/>
                </a:solidFill>
                <a:latin typeface="Arial"/>
              </a:rPr>
              <a:t>מעדיף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172395" y="5660136"/>
            <a:ext cx="139700" cy="139700"/>
          </a:xfrm>
          <a:prstGeom prst="rect">
            <a:avLst/>
          </a:prstGeom>
          <a:solidFill>
            <a:srgbClr val="2F77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92463" y="563270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>
                <a:solidFill>
                  <a:srgbClr val="394352"/>
                </a:solidFill>
                <a:latin typeface="Arial"/>
              </a:rPr>
              <a:t>מוכן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01963" y="5660136"/>
            <a:ext cx="139700" cy="139700"/>
          </a:xfrm>
          <a:prstGeom prst="rect">
            <a:avLst/>
          </a:prstGeom>
          <a:solidFill>
            <a:srgbClr val="6CA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2031" y="563270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>
                <a:solidFill>
                  <a:srgbClr val="394352"/>
                </a:solidFill>
                <a:latin typeface="Arial"/>
              </a:rPr>
              <a:t>בכפוף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31531" y="5660136"/>
            <a:ext cx="139700" cy="139700"/>
          </a:xfrm>
          <a:prstGeom prst="rect">
            <a:avLst/>
          </a:prstGeom>
          <a:solidFill>
            <a:srgbClr val="B98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1599" y="563270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>
                <a:solidFill>
                  <a:srgbClr val="394352"/>
                </a:solidFill>
                <a:latin typeface="Arial"/>
              </a:rPr>
              <a:t>חסום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61099" y="5660136"/>
            <a:ext cx="139700" cy="139700"/>
          </a:xfrm>
          <a:prstGeom prst="rect">
            <a:avLst/>
          </a:prstGeom>
          <a:solidFill>
            <a:srgbClr val="BE4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6016752"/>
            <a:ext cx="104543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6A7280"/>
                </a:solidFill>
                <a:latin typeface="Arial"/>
              </a:rPr>
              <a:t>אילוצים קשיחים:  </a:t>
            </a:r>
            <a:r>
              <a:rPr sz="1150" b="0">
                <a:solidFill>
                  <a:srgbClr val="394352"/>
                </a:solidFill>
                <a:latin typeface="Arial"/>
              </a:rPr>
              <a:t>אין שיבוץ ב״אדום״ · אין משמרות רצופות · מקסימום משמרות בשבוע · אין שיבוץ כפול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8680" y="6291072"/>
            <a:ext cx="10454335" cy="12700"/>
          </a:xfrm>
          <a:prstGeom prst="rect">
            <a:avLst/>
          </a:prstGeom>
          <a:solidFill>
            <a:srgbClr val="CFD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6355080"/>
            <a:ext cx="104543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>
                <a:solidFill>
                  <a:srgbClr val="6A7280"/>
                </a:solidFill>
                <a:latin typeface="Arial"/>
              </a:rPr>
              <a:t>RosterForge · פרויקט גמר · מכון טכנולוגי חולון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6355080"/>
            <a:ext cx="104543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A87C3D"/>
                </a:solidFill>
                <a:latin typeface="Arial"/>
              </a:rPr>
              <a:t>02 / 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" y="658368"/>
            <a:ext cx="566928" cy="38100"/>
          </a:xfrm>
          <a:prstGeom prst="rect">
            <a:avLst/>
          </a:prstGeom>
          <a:solidFill>
            <a:srgbClr val="A87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786384"/>
            <a:ext cx="104543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A87C3D"/>
                </a:solidFill>
                <a:latin typeface="Arial"/>
              </a:rPr>
              <a:t>שקופית שנייה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60704"/>
            <a:ext cx="104543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C2E4A"/>
                </a:solidFill>
                <a:latin typeface="Arial"/>
              </a:rPr>
              <a:t>ארכיטקטורת רכיבים — High Level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883664"/>
            <a:ext cx="10454335" cy="12700"/>
          </a:xfrm>
          <a:prstGeom prst="rect">
            <a:avLst/>
          </a:prstGeom>
          <a:solidFill>
            <a:srgbClr val="CFD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121408"/>
            <a:ext cx="1045433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1C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21408"/>
            <a:ext cx="1008857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C2E4A"/>
                </a:solidFill>
                <a:latin typeface="Arial"/>
              </a:rPr>
              <a:t>שכבת תצוגה — לקוח  (JavaFX · MVC · פרויקט נפרד)</a:t>
            </a:r>
          </a:p>
          <a:p>
            <a:pPr rtl="1" algn="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1050" b="0">
                <a:solidFill>
                  <a:srgbClr val="6A7280"/>
                </a:solidFill>
                <a:latin typeface="Arial"/>
              </a:rPr>
              <a:t>RosterForgeClientApp · MainController · main-view.fxml · ServerClient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01036"/>
            <a:ext cx="10454335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>
                <a:solidFill>
                  <a:srgbClr val="A87C3D"/>
                </a:solidFill>
                <a:latin typeface="Arial"/>
              </a:rPr>
              <a:t>↓   TCP · JSON (gson) · Socket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2907792"/>
            <a:ext cx="1045433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1C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907792"/>
            <a:ext cx="1008857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C2E4A"/>
                </a:solidFill>
                <a:latin typeface="Arial"/>
              </a:rPr>
              <a:t>שכבת תקשורת — שרת  (ServerSocket · Runnable)</a:t>
            </a:r>
          </a:p>
          <a:p>
            <a:pPr rtl="1" algn="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1050" b="0">
                <a:solidFill>
                  <a:srgbClr val="6A7280"/>
                </a:solidFill>
                <a:latin typeface="Arial"/>
              </a:rPr>
              <a:t>Server · HandleRequest · Request / Response · ServerDriver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487420"/>
            <a:ext cx="10454335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>
                <a:solidFill>
                  <a:srgbClr val="A87C3D"/>
                </a:solidFill>
                <a:latin typeface="Arial"/>
              </a:rPr>
              <a:t>↓   Factory → ניתוב לפי action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3694176"/>
            <a:ext cx="1045433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1C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694176"/>
            <a:ext cx="1008857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C2E4A"/>
                </a:solidFill>
                <a:latin typeface="Arial"/>
              </a:rPr>
              <a:t>שכבת שירותים  (Business Logic)</a:t>
            </a:r>
          </a:p>
          <a:p>
            <a:pPr rtl="1" algn="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1050" b="0">
                <a:solidFill>
                  <a:srgbClr val="6A7280"/>
                </a:solidFill>
                <a:latin typeface="Arial"/>
              </a:rPr>
              <a:t>EmployeeService · ShiftService · AvailabilityPreferenceService · RosterService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73804"/>
            <a:ext cx="10454335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>
                <a:solidFill>
                  <a:srgbClr val="A87C3D"/>
                </a:solidFill>
                <a:latin typeface="Arial"/>
              </a:rPr>
              <a:t>↓   IDao · אלגוריתם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4480560"/>
            <a:ext cx="1045433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1C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480560"/>
            <a:ext cx="1008857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C2E4A"/>
                </a:solidFill>
                <a:latin typeface="Arial"/>
              </a:rPr>
              <a:t>שכבת מאגר  (Repository · אחסון קבצים)</a:t>
            </a:r>
          </a:p>
          <a:p>
            <a:pPr rtl="1" algn="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1050" b="0">
                <a:solidFill>
                  <a:srgbClr val="6A7280"/>
                </a:solidFill>
                <a:latin typeface="Arial"/>
              </a:rPr>
              <a:t>IDao&lt;T&gt; · DaoFileImpl · datasource.txt · Decorator על streams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5266944"/>
            <a:ext cx="10454335" cy="566928"/>
          </a:xfrm>
          <a:prstGeom prst="rect">
            <a:avLst/>
          </a:prstGeom>
          <a:solidFill>
            <a:srgbClr val="F6F0E4"/>
          </a:solidFill>
          <a:ln w="12700">
            <a:solidFill>
              <a:srgbClr val="A87C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5266944"/>
            <a:ext cx="1008857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A87C3D"/>
                </a:solidFill>
                <a:latin typeface="Arial"/>
              </a:rPr>
              <a:t>יחידת אלגוריתמיקה  (JAR חיצוני)</a:t>
            </a:r>
          </a:p>
          <a:p>
            <a:pPr rtl="1" algn="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1050" b="0">
                <a:solidFill>
                  <a:srgbClr val="6A7280"/>
                </a:solidFill>
                <a:latin typeface="Arial"/>
              </a:rPr>
              <a:t>IAlgoMaxFlow (Strategy) · AbstractAlgoMaxFlow · FordFulkerson · EdmondsKarp · ConstraintValidator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989320"/>
            <a:ext cx="104543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6A7280"/>
                </a:solidFill>
                <a:latin typeface="Arial"/>
              </a:rPr>
              <a:t>תבניות עיצוב:  </a:t>
            </a:r>
            <a:r>
              <a:rPr sz="1150" b="0">
                <a:solidFill>
                  <a:srgbClr val="1C2E4A"/>
                </a:solidFill>
                <a:latin typeface="Arial"/>
              </a:rPr>
              <a:t>Strategy · Factory · Decorator · MVC · Open/Closed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" y="6291072"/>
            <a:ext cx="10454335" cy="12700"/>
          </a:xfrm>
          <a:prstGeom prst="rect">
            <a:avLst/>
          </a:prstGeom>
          <a:solidFill>
            <a:srgbClr val="CFD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6355080"/>
            <a:ext cx="104543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>
                <a:solidFill>
                  <a:srgbClr val="6A7280"/>
                </a:solidFill>
                <a:latin typeface="Arial"/>
              </a:rPr>
              <a:t>RosterForge · פרויקט גמר · מכון טכנולוגי חולון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6355080"/>
            <a:ext cx="104543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A87C3D"/>
                </a:solidFill>
                <a:latin typeface="Arial"/>
              </a:rPr>
              <a:t>03 / 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" y="658368"/>
            <a:ext cx="566928" cy="38100"/>
          </a:xfrm>
          <a:prstGeom prst="rect">
            <a:avLst/>
          </a:prstGeom>
          <a:solidFill>
            <a:srgbClr val="A87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786384"/>
            <a:ext cx="104543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A87C3D"/>
                </a:solidFill>
                <a:latin typeface="Arial"/>
              </a:rPr>
              <a:t>שקופית שלישית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60704"/>
            <a:ext cx="104543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C2E4A"/>
                </a:solidFill>
                <a:latin typeface="Arial"/>
              </a:rPr>
              <a:t>אתגרים בפיתוח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883664"/>
            <a:ext cx="10454335" cy="12700"/>
          </a:xfrm>
          <a:prstGeom prst="rect">
            <a:avLst/>
          </a:prstGeom>
          <a:solidFill>
            <a:srgbClr val="CFD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74375" y="2115820"/>
            <a:ext cx="502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>
                <a:solidFill>
                  <a:srgbClr val="A87C3D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972281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C2E4A"/>
                </a:solidFill>
                <a:latin typeface="Arial"/>
              </a:rPr>
              <a:t>מידול השיבוץ כבעיית זרימה ברשת</a:t>
            </a:r>
          </a:p>
          <a:p>
            <a:pPr rtl="1" algn="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</a:pPr>
            <a:r>
              <a:rPr sz="1200" b="0">
                <a:solidFill>
                  <a:srgbClr val="6A7280"/>
                </a:solidFill>
                <a:latin typeface="Arial"/>
              </a:rPr>
              <a:t>תרגום דרישות תפקיד, זמינות עובדים ואילוצים לגרף מקור–בור, כך שאלגוריתם Max Flow מפיק שיבוץ תקף וממוקסם.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710688"/>
            <a:ext cx="10454335" cy="9525"/>
          </a:xfrm>
          <a:prstGeom prst="rect">
            <a:avLst/>
          </a:prstGeom>
          <a:solidFill>
            <a:srgbClr val="CFD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74375" y="2774188"/>
            <a:ext cx="502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>
                <a:solidFill>
                  <a:srgbClr val="A87C3D"/>
                </a:solidFill>
                <a:latin typeface="Arial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61488"/>
            <a:ext cx="972281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C2E4A"/>
                </a:solidFill>
                <a:latin typeface="Arial"/>
              </a:rPr>
              <a:t>שני מימושים מתחלפים באמצעות Strategy</a:t>
            </a:r>
          </a:p>
          <a:p>
            <a:pPr rtl="1" algn="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</a:pPr>
            <a:r>
              <a:rPr sz="1200" b="0">
                <a:solidFill>
                  <a:srgbClr val="6A7280"/>
                </a:solidFill>
                <a:latin typeface="Arial"/>
              </a:rPr>
              <a:t>הפשטת ה-API ל-IAlgoMaxFlow כך ש-Ford-Fulkerson ו-Edmonds-Karp ניתנים להחלפה מבלי לשנות את שכבת השירות (Open/Closed).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3369056"/>
            <a:ext cx="10454335" cy="9525"/>
          </a:xfrm>
          <a:prstGeom prst="rect">
            <a:avLst/>
          </a:prstGeom>
          <a:solidFill>
            <a:srgbClr val="CFD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74375" y="3432556"/>
            <a:ext cx="502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>
                <a:solidFill>
                  <a:srgbClr val="A87C3D"/>
                </a:solidFill>
                <a:latin typeface="Arial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419856"/>
            <a:ext cx="972281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C2E4A"/>
                </a:solidFill>
                <a:latin typeface="Arial"/>
              </a:rPr>
              <a:t>אילוצים קשיחים מול העדפות רכות</a:t>
            </a:r>
          </a:p>
          <a:p>
            <a:pPr rtl="1" algn="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</a:pPr>
            <a:r>
              <a:rPr sz="1200" b="0">
                <a:solidFill>
                  <a:srgbClr val="6A7280"/>
                </a:solidFill>
                <a:latin typeface="Arial"/>
              </a:rPr>
              <a:t>הפרדה בין ולידציה (מותר / אסור) לבין ניקוד (טוב יותר / פחות), לשמירה על גמישות והרחבה עתידית.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4027424"/>
            <a:ext cx="10454335" cy="9525"/>
          </a:xfrm>
          <a:prstGeom prst="rect">
            <a:avLst/>
          </a:prstGeom>
          <a:solidFill>
            <a:srgbClr val="CFD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74375" y="4090924"/>
            <a:ext cx="502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>
                <a:solidFill>
                  <a:srgbClr val="A87C3D"/>
                </a:solidFill>
                <a:latin typeface="Arial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078224"/>
            <a:ext cx="972281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C2E4A"/>
                </a:solidFill>
                <a:latin typeface="Arial"/>
              </a:rPr>
              <a:t>פרוטוקול תקשורת גנרי</a:t>
            </a:r>
          </a:p>
          <a:p>
            <a:pPr rtl="1" algn="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</a:pPr>
            <a:r>
              <a:rPr sz="1200" b="0">
                <a:solidFill>
                  <a:srgbClr val="6A7280"/>
                </a:solidFill>
                <a:latin typeface="Arial"/>
              </a:rPr>
              <a:t>עיצוב Request / Response מבוססי JSON שאינם תלויים בשפת המימוש, עם ניתוב דינמי של בקרים ב-Factory.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4685792"/>
            <a:ext cx="10454335" cy="9525"/>
          </a:xfrm>
          <a:prstGeom prst="rect">
            <a:avLst/>
          </a:prstGeom>
          <a:solidFill>
            <a:srgbClr val="CFD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74375" y="4749292"/>
            <a:ext cx="502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>
                <a:solidFill>
                  <a:srgbClr val="A87C3D"/>
                </a:solidFill>
                <a:latin typeface="Arial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736592"/>
            <a:ext cx="972281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C2E4A"/>
                </a:solidFill>
                <a:latin typeface="Arial"/>
              </a:rPr>
              <a:t>הפרדת לקוח–שרת נקייה</a:t>
            </a:r>
          </a:p>
          <a:p>
            <a:pPr rtl="1" algn="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</a:pPr>
            <a:r>
              <a:rPr sz="1200" b="0">
                <a:solidFill>
                  <a:srgbClr val="6A7280"/>
                </a:solidFill>
                <a:latin typeface="Arial"/>
              </a:rPr>
              <a:t>הלקוח הגרפי מכיל אך ורק רכיבי UI ותקשורת Socket — כל הלוגיקה העסקית מתבצעת בצד השרת.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" y="5344160"/>
            <a:ext cx="10454335" cy="9525"/>
          </a:xfrm>
          <a:prstGeom prst="rect">
            <a:avLst/>
          </a:prstGeom>
          <a:solidFill>
            <a:srgbClr val="CFD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74375" y="5407660"/>
            <a:ext cx="502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>
                <a:solidFill>
                  <a:srgbClr val="A87C3D"/>
                </a:solidFill>
                <a:latin typeface="Arial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394960"/>
            <a:ext cx="972281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C2E4A"/>
                </a:solidFill>
                <a:latin typeface="Arial"/>
              </a:rPr>
              <a:t>אחסון מבוסס קבצים עם גנריות</a:t>
            </a:r>
          </a:p>
          <a:p>
            <a:pPr rtl="1" algn="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</a:pPr>
            <a:r>
              <a:rPr sz="1200" b="0">
                <a:solidFill>
                  <a:srgbClr val="6A7280"/>
                </a:solidFill>
                <a:latin typeface="Arial"/>
              </a:rPr>
              <a:t>מימוש IDao&lt;T&gt; מעל streams עטופים ב-Decorator, לשמירה ושליפה גנרית של כל מודל נתונים ללא בסיס נתונים.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" y="6291072"/>
            <a:ext cx="10454335" cy="12700"/>
          </a:xfrm>
          <a:prstGeom prst="rect">
            <a:avLst/>
          </a:prstGeom>
          <a:solidFill>
            <a:srgbClr val="CFD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6355080"/>
            <a:ext cx="104543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>
                <a:solidFill>
                  <a:srgbClr val="6A7280"/>
                </a:solidFill>
                <a:latin typeface="Arial"/>
              </a:rPr>
              <a:t>RosterForge · פרויקט גמר · מכון טכנולוגי חולון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6355080"/>
            <a:ext cx="104543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A87C3D"/>
                </a:solidFill>
                <a:latin typeface="Arial"/>
              </a:rPr>
              <a:t>04 / 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